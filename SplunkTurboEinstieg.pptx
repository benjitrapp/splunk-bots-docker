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58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1B"/>
    <a:srgbClr val="E9FEA9"/>
    <a:srgbClr val="F2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83" d="100"/>
          <a:sy n="83" d="100"/>
        </p:scale>
        <p:origin x="1032" y="99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423CD-3AFB-2146-BCD8-2D703EADAEF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A8DDC-7909-7C46-B9E2-B32A773A74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43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A8DDC-7909-7C46-B9E2-B32A773A74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64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B131B-2085-2E4B-9CE3-B10CBB520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D34647F-ABCA-7DFB-B51C-61003C614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2327C7-B76C-5836-21C9-11AFC1D17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9C07C-A346-A1E8-E303-230FC9447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A8DDC-7909-7C46-B9E2-B32A773A74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67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B22BE-0CFF-319E-A812-747286B7B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827CC8A-EA80-A536-FB48-716BFFF9B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46DE6B-3CD1-3944-821E-32CEAB7C8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DB56AD-FBB5-572A-5E44-DF2D4E6C0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A8DDC-7909-7C46-B9E2-B32A773A74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97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7AD2F-C88D-FC64-457C-5B0E3655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1AC230E-0A19-B9E7-123A-EE8626F71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A96121F-DC6F-AB22-8C69-ECD2A4D47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BC717A-60D2-60AC-DBCE-9FE43D75C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A8DDC-7909-7C46-B9E2-B32A773A74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16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5D142-752D-E820-87D4-AA13B6CD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CF5A7F8-6661-C020-100F-0A87E2BED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3483621-6DE2-891C-03E6-1CB4A4A75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28654C-86B6-F720-9EC7-3EEE3932A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A8DDC-7909-7C46-B9E2-B32A773A74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87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91323-CA17-57A6-F707-F643296D9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C8A7816-C77A-8B7C-18A3-CCDB95477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47F135-D42B-B793-8419-9CD69902F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462D3D-55C7-6135-632A-D82EDBE88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A8DDC-7909-7C46-B9E2-B32A773A74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98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DFAF-5B89-2570-D779-145918AD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ABE74DC-1C1B-5268-3413-75C6C8406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39DB702-C12B-950E-EB8B-17E54F225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587508-45CC-26A8-2EBD-57793D507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A8DDC-7909-7C46-B9E2-B32A773A74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19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DE8072-7AFC-404B-55F8-777B70DF2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B0A20BA-19E1-1786-F67E-8DFF0F50B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779E33-3471-620B-8DDC-ABDC426F3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D4AAD5-D057-CA5B-A1CB-8E11E207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71E3A7-8D23-2BEB-5A5A-9726D602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62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6E260C-7AFF-6C46-57E7-10201B4B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590D6D-E337-3601-73B6-44E494BDB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70FBFE-7DCA-AC6D-2BE7-E917C9294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4BD18B-6DCB-E972-97FD-56DCB43E3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54D0BA-643E-AB5B-5099-51DE51A3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1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6F49AF-2D84-2862-6236-903F07D0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9496FE-A618-7989-4E62-9B0D91B54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69BF58-B015-C89F-58AF-7FAAFEA3E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44EEF7-ED37-9601-F379-D6C8FC237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045D4B-F185-33D1-2CC7-2804E931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02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78CA6A-DC83-FACD-676B-A433BA412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0D4106-CB18-3528-8055-CE621216C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907955-44C8-8ACB-CA80-035F0513C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823B9F-EC91-85BD-ACF0-515285E3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89AF80-556C-3563-C71C-F66CB2B3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63E81F-15B9-6C2A-6AD9-EA73BBA2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92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B18CAF-A70B-6312-CE8F-C9EAA5AF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978F3D-4D38-0802-AC41-34BF79AAF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58A499-DD0B-0C33-E0A7-9E439C028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7B91C4A-5FE0-AB36-24FD-8FB200D6E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A06421-0DDB-29FB-D536-E8FDD4B6A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F4975B8-F93F-C075-9E67-25B28588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06923FF-B2C3-E321-D8A3-12DC114F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C5A98F0-8438-8834-6736-0E29E659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3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7071B1-68CC-886F-43C6-44754772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208C558-2A75-46DC-D716-C4AA928AC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8EAAC0-97A0-59E3-327E-E8EB1849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AEF9F2-7D3B-E172-5587-765CD36C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58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AE1072F-BFEE-1039-37DB-E57D1D69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E8B1FE-46FC-B64A-F451-69D0B13A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39626B-8D27-087E-6C60-5A09B2CB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3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8C37A-9067-DF12-70AC-7C1E953A0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B5AAFE-0239-B09F-335B-157218C73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C5FFA4-B757-E948-6E06-CA7D612DB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92D618-2A6E-ECBA-1757-1C287D8E7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0BCA9F-5C54-59FA-515E-870ABEBD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AE9C41-C67A-98B7-9C05-5E14B7AA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7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CF821-A7DC-5AF8-C750-F8DEB633F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6D6B2CD-9686-C17E-3C69-A8CF96788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5B30BB-31AA-04BA-CC86-5C8DA1DA0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5F5CB4-D447-2BD9-0952-04BCAAF9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EC4DDC-DD7E-1AFE-41A2-0B64594E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D024D2-481E-A4C9-8E7B-36111C73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2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975DB-623A-FBB7-2A1A-51568A92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80A784-6D02-3BE5-3B49-9F75FA29A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C6D9F7-7FE5-1976-E923-7BC8733F0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0FA2AF-25A7-239B-D1D8-A9820458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9D291B-0E70-E674-E094-8E459215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62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B5C13B-9044-156A-A8EE-E268B862C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73800F6-F92C-8D95-439D-97172A8E9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7985D4-921D-215F-C435-1918C3380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FC032C-6281-3DE4-7965-A1AB7A68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5BD2FC-A9B9-1DBB-A909-7BF5481E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82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94D1DCE-91DE-3621-E72A-8F848E36B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990B86-ABB3-D824-0AD5-16B19C05A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AD920-1B96-2076-E53C-05705A6C0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338C6-B134-324E-A48F-6271992211C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CC1C77-CF98-DDB7-FB7B-1937FA8A6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079B0D-2C18-6366-06E1-3DC8F28BD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39920-FEA9-2941-86A8-C8C21347FB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CBB6479-8302-AE02-7485-4D71D1AC2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1857" y="3951083"/>
            <a:ext cx="7944029" cy="1078054"/>
          </a:xfrm>
        </p:spPr>
        <p:txBody>
          <a:bodyPr>
            <a:normAutofit/>
          </a:bodyPr>
          <a:lstStyle/>
          <a:p>
            <a:pPr algn="l"/>
            <a:r>
              <a:rPr lang="de-DE" sz="3200" dirty="0">
                <a:solidFill>
                  <a:srgbClr val="FFFFFF"/>
                </a:solidFill>
              </a:rPr>
              <a:t>			Turbo Einstieg in die Splunk 			Architektur</a:t>
            </a:r>
          </a:p>
        </p:txBody>
      </p:sp>
      <p:pic>
        <p:nvPicPr>
          <p:cNvPr id="8194" name="Picture 2" descr="Splunk's Blog Posts | Splunk">
            <a:extLst>
              <a:ext uri="{FF2B5EF4-FFF2-40B4-BE49-F238E27FC236}">
                <a16:creationId xmlns:a16="http://schemas.microsoft.com/office/drawing/2014/main" id="{F008B49B-5830-A185-0FCA-7E237F372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73" y="897105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380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05F328-4C6C-0A5E-0F5F-51398B93E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31809C-8780-A413-6618-196CA7FA0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0285AC4-BEA0-1AC3-D8EE-B4FC59775C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4567129-6550-BD39-38E3-617AA1B0025E}"/>
              </a:ext>
            </a:extLst>
          </p:cNvPr>
          <p:cNvSpPr txBox="1"/>
          <p:nvPr/>
        </p:nvSpPr>
        <p:spPr>
          <a:xfrm>
            <a:off x="775293" y="311704"/>
            <a:ext cx="3689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Was ist Splunk ?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D735A86-E1D3-001B-CA5A-D170473573F3}"/>
              </a:ext>
            </a:extLst>
          </p:cNvPr>
          <p:cNvSpPr/>
          <p:nvPr/>
        </p:nvSpPr>
        <p:spPr>
          <a:xfrm>
            <a:off x="497072" y="228169"/>
            <a:ext cx="260497" cy="628736"/>
          </a:xfrm>
          <a:prstGeom prst="rect">
            <a:avLst/>
          </a:prstGeom>
          <a:solidFill>
            <a:srgbClr val="F216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68D41248-6D44-B3C3-9B3D-449C82F12D0D}"/>
              </a:ext>
            </a:extLst>
          </p:cNvPr>
          <p:cNvSpPr/>
          <p:nvPr/>
        </p:nvSpPr>
        <p:spPr>
          <a:xfrm>
            <a:off x="627320" y="1911500"/>
            <a:ext cx="5355723" cy="3648419"/>
          </a:xfrm>
          <a:prstGeom prst="roundRect">
            <a:avLst/>
          </a:prstGeom>
          <a:solidFill>
            <a:srgbClr val="1B1B1B"/>
          </a:solidFill>
          <a:effectLst>
            <a:outerShdw blurRad="50800" dist="38100" dir="16200000" rotWithShape="0">
              <a:srgbClr val="C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3200" b="1" dirty="0">
                <a:solidFill>
                  <a:srgbClr val="E9FEA9"/>
                </a:solidFill>
              </a:rPr>
              <a:t>SIEM &amp; Log-Analyse</a:t>
            </a:r>
            <a:br>
              <a:rPr lang="de-DE" dirty="0"/>
            </a:br>
            <a:br>
              <a:rPr lang="de-DE" dirty="0"/>
            </a:br>
            <a:r>
              <a:rPr lang="de-DE" dirty="0"/>
              <a:t>Splunk ist eine führende SIEM-Lösung (Security</a:t>
            </a:r>
          </a:p>
          <a:p>
            <a:r>
              <a:rPr lang="de-DE" dirty="0"/>
              <a:t>Information and Event Management), die</a:t>
            </a:r>
          </a:p>
          <a:p>
            <a:r>
              <a:rPr lang="de-DE" dirty="0"/>
              <a:t>Maschinendaten sammelt, indiziert und</a:t>
            </a:r>
          </a:p>
          <a:p>
            <a:r>
              <a:rPr lang="de-DE" dirty="0"/>
              <a:t>visualisiert.</a:t>
            </a:r>
            <a:br>
              <a:rPr lang="de-DE" dirty="0"/>
            </a:br>
            <a:endParaRPr lang="de-DE" dirty="0"/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7BA57228-0393-6D05-C662-56005C608203}"/>
              </a:ext>
            </a:extLst>
          </p:cNvPr>
          <p:cNvSpPr/>
          <p:nvPr/>
        </p:nvSpPr>
        <p:spPr>
          <a:xfrm>
            <a:off x="6417177" y="1911499"/>
            <a:ext cx="5355723" cy="3562543"/>
          </a:xfrm>
          <a:prstGeom prst="roundRect">
            <a:avLst/>
          </a:prstGeom>
          <a:solidFill>
            <a:srgbClr val="1B1B1B"/>
          </a:solidFill>
          <a:effectLst>
            <a:outerShdw blurRad="50800" dist="38100" dir="16200000" rotWithShape="0">
              <a:srgbClr val="C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3200" b="1" dirty="0">
                <a:solidFill>
                  <a:srgbClr val="E9FEA9"/>
                </a:solidFill>
              </a:rPr>
              <a:t>Echtzeit-Transparenz</a:t>
            </a:r>
            <a:br>
              <a:rPr lang="de-DE" dirty="0"/>
            </a:br>
            <a:br>
              <a:rPr lang="de-DE" dirty="0"/>
            </a:br>
            <a:r>
              <a:rPr lang="de-DE" dirty="0"/>
              <a:t>Es ermöglicht SOC-Analysten,</a:t>
            </a:r>
          </a:p>
          <a:p>
            <a:r>
              <a:rPr lang="de-DE" dirty="0"/>
              <a:t>Netzwerkaktivitäten in Echtzeit zu überwachen, Bedrohungen schneller zu erkennen und </a:t>
            </a:r>
            <a:r>
              <a:rPr lang="de-DE" dirty="0" err="1"/>
              <a:t>Vortälle</a:t>
            </a:r>
            <a:endParaRPr lang="de-DE" dirty="0"/>
          </a:p>
          <a:p>
            <a:r>
              <a:rPr lang="de-DE" dirty="0"/>
              <a:t>effizient zu untersuchen.</a:t>
            </a:r>
          </a:p>
        </p:txBody>
      </p:sp>
    </p:spTree>
    <p:extLst>
      <p:ext uri="{BB962C8B-B14F-4D97-AF65-F5344CB8AC3E}">
        <p14:creationId xmlns:p14="http://schemas.microsoft.com/office/powerpoint/2010/main" val="127204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EF83-2553-6055-9425-C18D68AFC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7F37E0-F007-45E7-1D75-9549B361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83C235-FE89-E37C-E539-5F36D1803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C345A42-5A90-05D5-9993-F2E72168DC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4FF2948-5393-1E03-07BF-6871C8D1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643" y="369937"/>
            <a:ext cx="4040714" cy="264150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D83DFEB-B5AD-306F-1C30-1810B7A77A07}"/>
              </a:ext>
            </a:extLst>
          </p:cNvPr>
          <p:cNvSpPr txBox="1"/>
          <p:nvPr/>
        </p:nvSpPr>
        <p:spPr>
          <a:xfrm>
            <a:off x="627321" y="311705"/>
            <a:ext cx="3689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 Die Splunk Architektur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222CD85-6F34-9F96-E7A8-6CD5AFAF84DB}"/>
              </a:ext>
            </a:extLst>
          </p:cNvPr>
          <p:cNvSpPr/>
          <p:nvPr/>
        </p:nvSpPr>
        <p:spPr>
          <a:xfrm>
            <a:off x="497072" y="228169"/>
            <a:ext cx="260497" cy="628736"/>
          </a:xfrm>
          <a:prstGeom prst="rect">
            <a:avLst/>
          </a:prstGeom>
          <a:solidFill>
            <a:srgbClr val="F216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F3A824D9-CFAA-8A5B-01D9-CE09E7AD322B}"/>
              </a:ext>
            </a:extLst>
          </p:cNvPr>
          <p:cNvSpPr/>
          <p:nvPr/>
        </p:nvSpPr>
        <p:spPr>
          <a:xfrm>
            <a:off x="838200" y="3490187"/>
            <a:ext cx="3115340" cy="3062177"/>
          </a:xfrm>
          <a:prstGeom prst="roundRect">
            <a:avLst/>
          </a:prstGeom>
          <a:solidFill>
            <a:srgbClr val="1B1B1B"/>
          </a:solidFill>
          <a:effectLst>
            <a:outerShdw blurRad="50800" dist="38100" dir="16200000" rotWithShape="0">
              <a:srgbClr val="C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rgbClr val="E9FEA9"/>
                </a:solidFill>
              </a:rPr>
              <a:t>Forwarder</a:t>
            </a:r>
            <a:br>
              <a:rPr lang="de-DE" dirty="0"/>
            </a:br>
            <a:br>
              <a:rPr lang="de-DE" dirty="0"/>
            </a:br>
            <a:r>
              <a:rPr lang="de-DE" dirty="0"/>
              <a:t>Sammeln Daten von Endpunkten und senden sie an die Splunk-Instanz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AE1BF991-3035-4103-9473-DC3B0596DC3E}"/>
              </a:ext>
            </a:extLst>
          </p:cNvPr>
          <p:cNvSpPr/>
          <p:nvPr/>
        </p:nvSpPr>
        <p:spPr>
          <a:xfrm>
            <a:off x="4464791" y="3490187"/>
            <a:ext cx="3115340" cy="3062177"/>
          </a:xfrm>
          <a:prstGeom prst="roundRect">
            <a:avLst/>
          </a:prstGeom>
          <a:solidFill>
            <a:srgbClr val="1B1B1B"/>
          </a:solidFill>
          <a:effectLst>
            <a:outerShdw blurRad="50800" dist="38100" dir="16200000" rotWithShape="0">
              <a:srgbClr val="C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 err="1">
                <a:solidFill>
                  <a:srgbClr val="E9FEA9"/>
                </a:solidFill>
              </a:rPr>
              <a:t>Indexer</a:t>
            </a:r>
            <a:br>
              <a:rPr lang="de-DE" dirty="0"/>
            </a:br>
            <a:br>
              <a:rPr lang="de-DE" dirty="0"/>
            </a:br>
            <a:r>
              <a:rPr lang="de-DE" dirty="0"/>
              <a:t>Verarbeitet Daten, normalisiert sie in Feld-Wert-Paare und speichert sie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A6A0FE3B-2B00-E47F-E568-C3064AACEEF0}"/>
              </a:ext>
            </a:extLst>
          </p:cNvPr>
          <p:cNvSpPr/>
          <p:nvPr/>
        </p:nvSpPr>
        <p:spPr>
          <a:xfrm>
            <a:off x="8014735" y="3436767"/>
            <a:ext cx="3115340" cy="3062177"/>
          </a:xfrm>
          <a:prstGeom prst="roundRect">
            <a:avLst/>
          </a:prstGeom>
          <a:solidFill>
            <a:srgbClr val="1B1B1B"/>
          </a:solidFill>
          <a:effectLst>
            <a:outerShdw blurRad="50800" dist="38100" dir="16200000" rotWithShape="0">
              <a:srgbClr val="C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noProof="1">
                <a:solidFill>
                  <a:srgbClr val="E9FEA9"/>
                </a:solidFill>
              </a:rPr>
              <a:t>Search Head</a:t>
            </a:r>
            <a:br>
              <a:rPr lang="de-DE" noProof="1"/>
            </a:br>
            <a:br>
              <a:rPr lang="de-DE" noProof="1"/>
            </a:br>
            <a:r>
              <a:rPr lang="de-DE" noProof="1"/>
              <a:t>Das Interface für Abfragen</a:t>
            </a:r>
          </a:p>
          <a:p>
            <a:pPr algn="ctr"/>
            <a:r>
              <a:rPr lang="de-DE" noProof="1"/>
              <a:t>(SPL) und die Erstellung von</a:t>
            </a:r>
          </a:p>
          <a:p>
            <a:pPr algn="ctr"/>
            <a:r>
              <a:rPr lang="de-DE" noProof="1"/>
              <a:t>Visualisierungen.</a:t>
            </a:r>
          </a:p>
        </p:txBody>
      </p:sp>
    </p:spTree>
    <p:extLst>
      <p:ext uri="{BB962C8B-B14F-4D97-AF65-F5344CB8AC3E}">
        <p14:creationId xmlns:p14="http://schemas.microsoft.com/office/powerpoint/2010/main" val="3398467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4AD8-BF77-FBC3-9E7F-82600F7ED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E26BC-CC29-743D-E1AD-FD13E781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973772-FC05-1738-A76F-CB3772644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8E29AD5-6908-3BED-6334-1A688DEAAE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6B21135-8636-DA18-BD29-DE5C1E6763AE}"/>
              </a:ext>
            </a:extLst>
          </p:cNvPr>
          <p:cNvSpPr txBox="1"/>
          <p:nvPr/>
        </p:nvSpPr>
        <p:spPr>
          <a:xfrm>
            <a:off x="627321" y="311705"/>
            <a:ext cx="4338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  Der Daten-Lebenszyklus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2C7880-61E4-1CAA-CB9C-5AC80A07B6BD}"/>
              </a:ext>
            </a:extLst>
          </p:cNvPr>
          <p:cNvSpPr/>
          <p:nvPr/>
        </p:nvSpPr>
        <p:spPr>
          <a:xfrm>
            <a:off x="497072" y="228169"/>
            <a:ext cx="260497" cy="628736"/>
          </a:xfrm>
          <a:prstGeom prst="rect">
            <a:avLst/>
          </a:prstGeom>
          <a:solidFill>
            <a:srgbClr val="F216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323AB6E-9B34-84D0-2843-F9CA6525A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79" y="1386715"/>
            <a:ext cx="10722521" cy="342051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DDEDC965-53D2-D3EE-5708-387FB61F349B}"/>
              </a:ext>
            </a:extLst>
          </p:cNvPr>
          <p:cNvSpPr txBox="1"/>
          <p:nvPr/>
        </p:nvSpPr>
        <p:spPr>
          <a:xfrm>
            <a:off x="2647952" y="4622560"/>
            <a:ext cx="8405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Daten werden transformiert: Von Roh-Logs zu durchsuchbaren Events.</a:t>
            </a:r>
          </a:p>
        </p:txBody>
      </p:sp>
    </p:spTree>
    <p:extLst>
      <p:ext uri="{BB962C8B-B14F-4D97-AF65-F5344CB8AC3E}">
        <p14:creationId xmlns:p14="http://schemas.microsoft.com/office/powerpoint/2010/main" val="430525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AD1C8-1E3E-F5EA-E70F-1CE645AA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C0C313-F96C-2AE1-3082-533B450C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F16057-F256-4C8E-A096-4A59A0225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B504BC-21B8-DD9B-650E-A1971B74E0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B341CD7-DE15-9CA0-ABB3-52A5E0B5E34B}"/>
              </a:ext>
            </a:extLst>
          </p:cNvPr>
          <p:cNvSpPr txBox="1"/>
          <p:nvPr/>
        </p:nvSpPr>
        <p:spPr>
          <a:xfrm>
            <a:off x="757569" y="324772"/>
            <a:ext cx="3689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Universal Forwarder (UF)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2236989-0B20-0449-23F3-B67389A4EF5C}"/>
              </a:ext>
            </a:extLst>
          </p:cNvPr>
          <p:cNvSpPr/>
          <p:nvPr/>
        </p:nvSpPr>
        <p:spPr>
          <a:xfrm>
            <a:off x="497072" y="228169"/>
            <a:ext cx="260497" cy="628736"/>
          </a:xfrm>
          <a:prstGeom prst="rect">
            <a:avLst/>
          </a:prstGeom>
          <a:solidFill>
            <a:srgbClr val="F216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700F33FF-A5A6-6C2C-83A2-E1A04D92C7D9}"/>
              </a:ext>
            </a:extLst>
          </p:cNvPr>
          <p:cNvSpPr/>
          <p:nvPr/>
        </p:nvSpPr>
        <p:spPr>
          <a:xfrm>
            <a:off x="838201" y="1111209"/>
            <a:ext cx="5587313" cy="5065754"/>
          </a:xfrm>
          <a:prstGeom prst="roundRect">
            <a:avLst/>
          </a:prstGeom>
          <a:solidFill>
            <a:srgbClr val="1B1B1B"/>
          </a:solidFill>
          <a:effectLst>
            <a:outerShdw blurRad="50800" dist="38100" dir="16200000" rotWithShape="0">
              <a:srgbClr val="C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Extrem Leichtgewichtig</a:t>
            </a:r>
            <a:r>
              <a:rPr lang="de-DE" sz="2400" dirty="0"/>
              <a:t>: Minimaler Ressourcenverbrauch auf dem Host. </a:t>
            </a:r>
            <a:br>
              <a:rPr lang="de-DE" sz="2400" dirty="0"/>
            </a:b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Kein </a:t>
            </a:r>
            <a:r>
              <a:rPr lang="de-DE" sz="2400" b="1" dirty="0" err="1"/>
              <a:t>Parsing</a:t>
            </a:r>
            <a:r>
              <a:rPr lang="de-DE" sz="2400" dirty="0"/>
              <a:t>: Sendet unformatierten "rohen” Datenstrom (Raw Data).</a:t>
            </a:r>
            <a:br>
              <a:rPr lang="de-DE" sz="2400" dirty="0"/>
            </a:b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Kein Web-UI</a:t>
            </a:r>
            <a:r>
              <a:rPr lang="de-DE" sz="2400" dirty="0"/>
              <a:t>: Konfiguration erfolgt über CLI oder </a:t>
            </a:r>
            <a:r>
              <a:rPr lang="de-DE" sz="2400" dirty="0" err="1"/>
              <a:t>Deployment</a:t>
            </a:r>
            <a:r>
              <a:rPr lang="de-DE" sz="2400" dirty="0"/>
              <a:t> Server. </a:t>
            </a:r>
            <a:br>
              <a:rPr lang="de-DE" sz="2400" dirty="0"/>
            </a:b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Optimiert</a:t>
            </a:r>
            <a:r>
              <a:rPr lang="de-DE" sz="2400" dirty="0"/>
              <a:t>: Konzentriert sich rein auf den Datentransport.</a:t>
            </a:r>
          </a:p>
        </p:txBody>
      </p:sp>
      <p:pic>
        <p:nvPicPr>
          <p:cNvPr id="2050" name="Picture 2" descr="Metrics for telemetry pipelines based on SC4S and Splunk – Axoflow">
            <a:extLst>
              <a:ext uri="{FF2B5EF4-FFF2-40B4-BE49-F238E27FC236}">
                <a16:creationId xmlns:a16="http://schemas.microsoft.com/office/drawing/2014/main" id="{7E20EAF9-276B-29DB-B85F-2B199C843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677" y="2141316"/>
            <a:ext cx="4146001" cy="325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DC2AE27-931B-9BD5-6B3E-A96586CF3E51}"/>
              </a:ext>
            </a:extLst>
          </p:cNvPr>
          <p:cNvSpPr txBox="1"/>
          <p:nvPr/>
        </p:nvSpPr>
        <p:spPr>
          <a:xfrm>
            <a:off x="7037555" y="3007474"/>
            <a:ext cx="3018187" cy="421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buNone/>
            </a:pPr>
            <a:r>
              <a:rPr lang="de-DE" sz="1100" b="1" i="0" dirty="0">
                <a:effectLst/>
                <a:latin typeface="Splunk Platform Sans"/>
              </a:rPr>
              <a:t>Splunk Connect </a:t>
            </a:r>
            <a:r>
              <a:rPr lang="de-DE" sz="1100" b="1" i="0" dirty="0" err="1">
                <a:effectLst/>
                <a:latin typeface="Splunk Platform Sans"/>
              </a:rPr>
              <a:t>for</a:t>
            </a:r>
            <a:r>
              <a:rPr lang="de-DE" sz="1100" b="1" i="0" dirty="0">
                <a:effectLst/>
                <a:latin typeface="Splunk Platform Sans"/>
              </a:rPr>
              <a:t> Syslog</a:t>
            </a:r>
          </a:p>
        </p:txBody>
      </p:sp>
    </p:spTree>
    <p:extLst>
      <p:ext uri="{BB962C8B-B14F-4D97-AF65-F5344CB8AC3E}">
        <p14:creationId xmlns:p14="http://schemas.microsoft.com/office/powerpoint/2010/main" val="101665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B213D-5012-C7C5-287E-2EFC2891E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E84E29-C4D5-6B21-A9B6-42E8449E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6C998CAC-D241-49BB-8104-2C63A8B5B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71786"/>
            <a:ext cx="10515600" cy="325901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55F6BE5A-B8FF-5A2A-C5C7-D09A50E319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44B6F4D-7F79-CEA7-5EB6-86BF058FCF67}"/>
              </a:ext>
            </a:extLst>
          </p:cNvPr>
          <p:cNvSpPr txBox="1"/>
          <p:nvPr/>
        </p:nvSpPr>
        <p:spPr>
          <a:xfrm>
            <a:off x="757569" y="324772"/>
            <a:ext cx="3689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Heavy Forwarder (HF)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C62F97B-907E-9EB1-B7CD-6109C5E51A0F}"/>
              </a:ext>
            </a:extLst>
          </p:cNvPr>
          <p:cNvSpPr/>
          <p:nvPr/>
        </p:nvSpPr>
        <p:spPr>
          <a:xfrm>
            <a:off x="497072" y="228169"/>
            <a:ext cx="260497" cy="628736"/>
          </a:xfrm>
          <a:prstGeom prst="rect">
            <a:avLst/>
          </a:prstGeom>
          <a:solidFill>
            <a:srgbClr val="F216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F1CEB047-A491-B4D4-4564-C6E51BD5FF38}"/>
              </a:ext>
            </a:extLst>
          </p:cNvPr>
          <p:cNvSpPr/>
          <p:nvPr/>
        </p:nvSpPr>
        <p:spPr>
          <a:xfrm>
            <a:off x="508687" y="1027906"/>
            <a:ext cx="6831227" cy="5731240"/>
          </a:xfrm>
          <a:prstGeom prst="roundRect">
            <a:avLst/>
          </a:prstGeom>
          <a:solidFill>
            <a:srgbClr val="1B1B1B"/>
          </a:solidFill>
          <a:effectLst>
            <a:outerShdw blurRad="50800" dist="38100" dir="16200000" rotWithShape="0">
              <a:srgbClr val="C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Volle Splunk Instanz</a:t>
            </a:r>
            <a:r>
              <a:rPr lang="de-DE" sz="2400" dirty="0"/>
              <a:t>: </a:t>
            </a:r>
            <a:br>
              <a:rPr lang="de-DE" sz="2400" dirty="0"/>
            </a:br>
            <a:r>
              <a:rPr lang="de-DE" sz="2400" dirty="0"/>
              <a:t>Hat nahezu alle Funktionen eines </a:t>
            </a:r>
            <a:r>
              <a:rPr lang="de-DE" sz="2400" dirty="0" err="1"/>
              <a:t>Indexers</a:t>
            </a:r>
            <a:r>
              <a:rPr lang="de-DE" sz="2400" dirty="0"/>
              <a:t>.</a:t>
            </a:r>
            <a:br>
              <a:rPr lang="de-DE" sz="2400" dirty="0"/>
            </a:b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 err="1"/>
              <a:t>Parsing</a:t>
            </a:r>
            <a:r>
              <a:rPr lang="de-DE" sz="2400" b="1" dirty="0"/>
              <a:t> &amp; </a:t>
            </a:r>
            <a:r>
              <a:rPr lang="de-DE" sz="2400" b="1" dirty="0" err="1"/>
              <a:t>Filtering</a:t>
            </a:r>
            <a:r>
              <a:rPr lang="de-DE" sz="2400" dirty="0"/>
              <a:t>: </a:t>
            </a:r>
            <a:br>
              <a:rPr lang="de-DE" sz="2400" dirty="0"/>
            </a:br>
            <a:r>
              <a:rPr lang="de-DE" sz="2400" dirty="0"/>
              <a:t>Kann Daten vor dem Senden filtern oder maskieren. Verwerfen hilft Kosten zu reduzieren</a:t>
            </a:r>
            <a:br>
              <a:rPr lang="de-DE" sz="2400" dirty="0"/>
            </a:b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PII Maskierung</a:t>
            </a:r>
            <a:r>
              <a:rPr lang="de-DE" sz="2400" dirty="0"/>
              <a:t>: </a:t>
            </a:r>
            <a:br>
              <a:rPr lang="de-DE" sz="2400" dirty="0"/>
            </a:br>
            <a:r>
              <a:rPr lang="de-DE" sz="2400" dirty="0"/>
              <a:t>Sensible Daten (z.B. IP/Namen) anonymisieren.</a:t>
            </a:r>
            <a:br>
              <a:rPr lang="de-DE" sz="2400" dirty="0"/>
            </a:b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Smart Routing:</a:t>
            </a:r>
            <a:br>
              <a:rPr lang="de-DE" sz="2400" dirty="0"/>
            </a:br>
            <a:r>
              <a:rPr lang="de-DE" sz="2400" dirty="0"/>
              <a:t>Sendet Daten basierend auf Inhalt an  verschiedene Ziele.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80C0F54-A606-100C-ECB6-A79AD706B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762" y="3429000"/>
            <a:ext cx="5432854" cy="183575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0172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DB2F8-6D00-7E99-1753-ADC8C4700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FBAFD4-9C28-0E20-F2DB-F18932C0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8E78D66D-5241-2275-8E19-14F35562B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71786"/>
            <a:ext cx="10515600" cy="325901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75ABD914-71DB-DA86-3E58-88CF3EEECF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95BCAB6-657B-55A9-9227-A1C352DB3C95}"/>
              </a:ext>
            </a:extLst>
          </p:cNvPr>
          <p:cNvSpPr txBox="1"/>
          <p:nvPr/>
        </p:nvSpPr>
        <p:spPr>
          <a:xfrm>
            <a:off x="757569" y="324772"/>
            <a:ext cx="3689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Was macht der </a:t>
            </a:r>
            <a:r>
              <a:rPr lang="de-DE" sz="2400" b="1" dirty="0" err="1">
                <a:solidFill>
                  <a:schemeClr val="bg1"/>
                </a:solidFill>
              </a:rPr>
              <a:t>Indexer</a:t>
            </a:r>
            <a:r>
              <a:rPr lang="de-DE" sz="2400" b="1" dirty="0">
                <a:solidFill>
                  <a:schemeClr val="bg1"/>
                </a:solidFill>
              </a:rPr>
              <a:t> ?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7B7633A-62E5-91F6-F739-80D16023383D}"/>
              </a:ext>
            </a:extLst>
          </p:cNvPr>
          <p:cNvSpPr/>
          <p:nvPr/>
        </p:nvSpPr>
        <p:spPr>
          <a:xfrm>
            <a:off x="497072" y="228169"/>
            <a:ext cx="260497" cy="628736"/>
          </a:xfrm>
          <a:prstGeom prst="rect">
            <a:avLst/>
          </a:prstGeom>
          <a:solidFill>
            <a:srgbClr val="F216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FBB7541B-3C9A-6B67-E3AC-61B9F9CDB375}"/>
              </a:ext>
            </a:extLst>
          </p:cNvPr>
          <p:cNvSpPr/>
          <p:nvPr/>
        </p:nvSpPr>
        <p:spPr>
          <a:xfrm>
            <a:off x="5376769" y="324772"/>
            <a:ext cx="6186581" cy="2991173"/>
          </a:xfrm>
          <a:prstGeom prst="roundRect">
            <a:avLst/>
          </a:prstGeom>
          <a:solidFill>
            <a:srgbClr val="1B1B1B"/>
          </a:solidFill>
          <a:effectLst>
            <a:outerShdw blurRad="50800" dist="38100" dir="16200000" rotWithShape="0">
              <a:srgbClr val="C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b="1" dirty="0"/>
              <a:t>Der </a:t>
            </a:r>
            <a:r>
              <a:rPr lang="de-DE" sz="2400" b="1" dirty="0" err="1"/>
              <a:t>Indexer</a:t>
            </a:r>
            <a:r>
              <a:rPr lang="de-DE" sz="2400" b="1" dirty="0"/>
              <a:t> ist die "Backstube" von Splunk: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Trennt Daten in einzelne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Extrahiert Zeitstempel und Metadaten.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Normalisiert Daten in Feld-Wert-Paare (z.B. </a:t>
            </a:r>
            <a:r>
              <a:rPr lang="de-DE" sz="2400" b="1" dirty="0" err="1"/>
              <a:t>user_id</a:t>
            </a:r>
            <a:r>
              <a:rPr lang="de-DE" sz="2400" b="1" dirty="0"/>
              <a:t>=</a:t>
            </a:r>
            <a:r>
              <a:rPr lang="de-DE" sz="2400" b="1" dirty="0" err="1"/>
              <a:t>admin</a:t>
            </a:r>
            <a:r>
              <a:rPr lang="de-DE" sz="2400" b="1" dirty="0"/>
              <a:t>).</a:t>
            </a:r>
            <a:endParaRPr lang="de-DE" sz="24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1076A13-A90B-9F89-6AA6-39D99AF16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3315945"/>
            <a:ext cx="7772400" cy="331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9DE43-21FF-67B3-FCC4-02C19D3E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C970B9-FC0A-3875-F7FE-09B4DBBEC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89230511-72CD-8ADE-4A32-D9F1ED01F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71786"/>
            <a:ext cx="10515600" cy="325901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AAD010DB-D63B-38AB-BE90-A85A19446A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3F5425-BFA0-65E2-DF2E-EA74400643EE}"/>
              </a:ext>
            </a:extLst>
          </p:cNvPr>
          <p:cNvSpPr txBox="1"/>
          <p:nvPr/>
        </p:nvSpPr>
        <p:spPr>
          <a:xfrm>
            <a:off x="757568" y="324772"/>
            <a:ext cx="5116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 Was macht der Search Head ?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7B7930A-FE29-6127-333B-7EE420F4E868}"/>
              </a:ext>
            </a:extLst>
          </p:cNvPr>
          <p:cNvSpPr/>
          <p:nvPr/>
        </p:nvSpPr>
        <p:spPr>
          <a:xfrm>
            <a:off x="497072" y="228169"/>
            <a:ext cx="260497" cy="628736"/>
          </a:xfrm>
          <a:prstGeom prst="rect">
            <a:avLst/>
          </a:prstGeom>
          <a:solidFill>
            <a:srgbClr val="F216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1E3F5BC-54F7-9585-BB15-BB1ADDC5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5259" y="1202834"/>
            <a:ext cx="3921481" cy="505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60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Macintosh PowerPoint</Application>
  <PresentationFormat>Breitbild</PresentationFormat>
  <Paragraphs>42</Paragraphs>
  <Slides>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Splunk Platform Sans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Trapp, Benjamin-Yves Johannes</dc:creator>
  <cp:lastModifiedBy>Trapp, Benjamin-Yves Johannes</cp:lastModifiedBy>
  <cp:revision>1</cp:revision>
  <dcterms:created xsi:type="dcterms:W3CDTF">2026-06-12T08:50:39Z</dcterms:created>
  <dcterms:modified xsi:type="dcterms:W3CDTF">2026-06-12T12:19:13Z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7b3908-262a-4844-b4f7-5e6370028852_Enabled">
    <vt:lpwstr>true</vt:lpwstr>
  </property>
  <property fmtid="{D5CDD505-2E9C-101B-9397-08002B2CF9AE}" pid="3" name="MSIP_Label_5a7b3908-262a-4844-b4f7-5e6370028852_SetDate">
    <vt:lpwstr>2026-06-12T12:19:13Z</vt:lpwstr>
  </property>
  <property fmtid="{D5CDD505-2E9C-101B-9397-08002B2CF9AE}" pid="4" name="MSIP_Label_5a7b3908-262a-4844-b4f7-5e6370028852_Method">
    <vt:lpwstr>Standard</vt:lpwstr>
  </property>
  <property fmtid="{D5CDD505-2E9C-101B-9397-08002B2CF9AE}" pid="5" name="MSIP_Label_5a7b3908-262a-4844-b4f7-5e6370028852_Name">
    <vt:lpwstr>Interne Daten</vt:lpwstr>
  </property>
  <property fmtid="{D5CDD505-2E9C-101B-9397-08002B2CF9AE}" pid="6" name="MSIP_Label_5a7b3908-262a-4844-b4f7-5e6370028852_SiteId">
    <vt:lpwstr>047b2e1f-a271-4bc1-97a4-703bf7adf135</vt:lpwstr>
  </property>
  <property fmtid="{D5CDD505-2E9C-101B-9397-08002B2CF9AE}" pid="7" name="MSIP_Label_5a7b3908-262a-4844-b4f7-5e6370028852_ActionId">
    <vt:lpwstr>a9e3cd41-4518-49a2-af7f-7180869dd0c0</vt:lpwstr>
  </property>
  <property fmtid="{D5CDD505-2E9C-101B-9397-08002B2CF9AE}" pid="8" name="MSIP_Label_5a7b3908-262a-4844-b4f7-5e6370028852_ContentBits">
    <vt:lpwstr>0</vt:lpwstr>
  </property>
  <property fmtid="{D5CDD505-2E9C-101B-9397-08002B2CF9AE}" pid="9" name="MSIP_Label_5a7b3908-262a-4844-b4f7-5e6370028852_Tag">
    <vt:lpwstr>50, 3, 0, 1</vt:lpwstr>
  </property>
</Properties>
</file>